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57" r:id="rId5"/>
    <p:sldId id="262"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Sales comparison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D57-4191-AAF5-BA179257C2BD}"/>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D57-4191-AAF5-BA179257C2BD}"/>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D57-4191-AAF5-BA179257C2BD}"/>
            </c:ext>
          </c:extLst>
        </c:ser>
        <c:dLbls>
          <c:showLegendKey val="0"/>
          <c:showVal val="0"/>
          <c:showCatName val="0"/>
          <c:showSerName val="0"/>
          <c:showPercent val="0"/>
          <c:showBubbleSize val="0"/>
        </c:dLbls>
        <c:gapWidth val="219"/>
        <c:overlap val="-27"/>
        <c:axId val="524599032"/>
        <c:axId val="524595752"/>
      </c:barChart>
      <c:catAx>
        <c:axId val="524599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4595752"/>
        <c:crosses val="autoZero"/>
        <c:auto val="1"/>
        <c:lblAlgn val="ctr"/>
        <c:lblOffset val="100"/>
        <c:noMultiLvlLbl val="0"/>
      </c:catAx>
      <c:valAx>
        <c:axId val="5245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4599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8092-E867-4E68-9886-B0205E2A27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09C4B-0CC4-4993-9D0F-D27A49D73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9D6B2-3203-48A7-85C0-06852B52786A}"/>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A8B66A1C-EA7F-4E6F-ABAD-D25AF2A5D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B37CF-1A86-42A3-A07C-D2DA7880CA4C}"/>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8798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A55BD-9E4B-40B7-8EB9-7F10B7270B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1656E-1980-4619-BBC2-1C0AECF5FF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37196B-85A7-4EE9-A037-146860D00D65}"/>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9E1B61C3-1137-4444-8857-E46855FEA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A481B-7D56-458D-9F0B-73F00649E611}"/>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30213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5B27-DE83-4844-A575-54EE450B1A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5B7AB5-6E0B-4DBB-86F4-37CEA31A46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06E480A-0C03-4D18-BE4C-6E525B2F6428}"/>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992B60B8-19CB-47CB-B72B-0416852AA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9FE0F-A484-4EA7-8FD2-04C4B877694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7907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4C114-EFA0-42E6-B430-30AD2967F2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B1390-1CCB-4CF0-913E-185544AF421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93107-53DE-4DCB-BE89-54BC1D44CC2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31A65B-5BD3-4B14-A039-5A309529A78B}"/>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268F39D9-988D-459E-B1CD-C501E6C88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8384-38C5-424B-B863-1234309677F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956836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DCAC-57AB-4D6E-BC77-E5FBF27FE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BFAF32-0E0F-4B9B-ABF8-08957C05B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6BFCF4-C2D9-425F-B022-40ACE4EA8C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980780-05D2-4D96-A9D5-53484814E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8D4A927-7B61-40C1-92AB-6880517576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AB97D1-5A3B-4059-815A-340FB824448A}"/>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8" name="Footer Placeholder 7">
            <a:extLst>
              <a:ext uri="{FF2B5EF4-FFF2-40B4-BE49-F238E27FC236}">
                <a16:creationId xmlns:a16="http://schemas.microsoft.com/office/drawing/2014/main" id="{B72DE78E-294B-446D-8474-6BA224D5B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C3293A-4FD6-4428-85E0-574DF5719A8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97822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1404-108D-4FCC-8492-ACE9DCF177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FFD965-28FF-4929-B0DA-92C66945B932}"/>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4" name="Footer Placeholder 3">
            <a:extLst>
              <a:ext uri="{FF2B5EF4-FFF2-40B4-BE49-F238E27FC236}">
                <a16:creationId xmlns:a16="http://schemas.microsoft.com/office/drawing/2014/main" id="{16DAA5E0-83C1-4CF4-880B-2CF539CB7F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AF3922-374B-4171-8BC5-F1E0F8421F58}"/>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607219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AB476E-AC05-47E6-A12F-24C0D753CF12}"/>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3" name="Footer Placeholder 2">
            <a:extLst>
              <a:ext uri="{FF2B5EF4-FFF2-40B4-BE49-F238E27FC236}">
                <a16:creationId xmlns:a16="http://schemas.microsoft.com/office/drawing/2014/main" id="{63C97C91-D4AD-4F7E-B19C-A36AC68BCE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8A34-EE4E-4307-B20A-F719CBC3FB1F}"/>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68259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3019-6048-4EF1-8E67-3302EF95B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EAC829-6F62-4C5B-A4FE-88D795CAC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7B1730-5CED-46AB-8AF2-3560B7266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7798A2-8D49-4C9C-8CB7-5367A10AB5B7}"/>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7C709CD0-EF6C-41C7-B9BA-9FC337BD7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E108C-CC43-4553-B063-33D1C360EC5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82206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A4BF-7EBD-4087-A800-77CFD938A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2AE39C-E7E5-4536-968C-65137F387D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6C026E-0017-4FFD-BB30-78C5416B2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C98FE5-8A1C-4192-984C-C18B093CADF6}"/>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6E25DD6C-2A37-4709-B29A-446A5718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56A181-3C79-475A-8A12-7267413561EB}"/>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09579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4EA1-58E4-42A7-8DCA-725AFB10B7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60006E-D4B9-44A0-A059-EBC6CC39ACB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CE83F-AD46-425B-A854-996B54ABE788}"/>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A257BED7-15D0-4FA7-999F-F2D1804AD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33827-58FD-4965-A7A7-AB35B277267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62583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7E049-7767-4915-BFAD-AA6268FC13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53A7E7-6996-49F7-8B45-7C9EA3F14BC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E4FD6-252D-4974-83FB-A1C670961515}"/>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75E65431-35DC-476B-ABEA-82F227DD08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5E16B-5E75-4104-B122-F4472006EB3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982463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5371D-5B24-4F8F-B844-6B7F15843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08F94-535E-4939-99EE-305982298D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8EA68-1C72-4720-B1FE-ED04C5E771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E13B2E32-A768-4ED6-970A-84BCB388DE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2913F1-F29E-45B5-BF89-6221E2F9F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76E65-7777-4C32-B153-6028045D6BD3}" type="slidenum">
              <a:rPr lang="en-US" smtClean="0"/>
              <a:t>‹#›</a:t>
            </a:fld>
            <a:endParaRPr lang="en-US"/>
          </a:p>
        </p:txBody>
      </p:sp>
    </p:spTree>
    <p:extLst>
      <p:ext uri="{BB962C8B-B14F-4D97-AF65-F5344CB8AC3E}">
        <p14:creationId xmlns:p14="http://schemas.microsoft.com/office/powerpoint/2010/main" val="2094410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dirty="0"/>
              <a:t>Company History</a:t>
            </a:r>
          </a:p>
        </p:txBody>
      </p:sp>
      <p:sp>
        <p:nvSpPr>
          <p:cNvPr id="3" name="TextBox3"/>
          <p:cNvSpPr txBox="1">
            <a:spLocks noChangeArrowheads="1"/>
          </p:cNvSpPr>
          <p:nvPr/>
        </p:nvSpPr>
        <p:spPr bwMode="white">
          <a:xfrm>
            <a:off x="675894" y="1799971"/>
            <a:ext cx="11102213" cy="646331"/>
          </a:xfrm>
          <a:prstGeom prst="rect">
            <a:avLst/>
          </a:prstGeom>
          <a:ln>
            <a:headEnd type="none"/>
            <a:tailEnd type="none"/>
          </a:ln>
        </p:spPr>
        <p:txBody>
          <a:bodyPr wrap="square">
            <a:spAutoFit/>
          </a:bodyPr>
          <a:lstStyle/>
          <a:p>
            <a:pPr defTabSz="914400"/>
            <a:r>
              <a:rPr dirty="0">
                <a:latin typeface="Chiller" panose="04020404031007020602" pitchFamily="82" charset="0"/>
              </a:rPr>
              <a:t>IMN Solutions PVT LTD is the software company, established in 1987, by George Milton. The company has been listed as the trusted partner for many high-profile organizations </a:t>
            </a:r>
            <a:r>
              <a:rPr dirty="0">
                <a:highlight>
                  <a:srgbClr val="FFFF00"/>
                </a:highlight>
                <a:latin typeface="Chiller" panose="04020404031007020602" pitchFamily="82" charset="0"/>
              </a:rPr>
              <a:t>since 1988</a:t>
            </a:r>
            <a:r>
              <a:rPr dirty="0">
                <a:latin typeface="Chiller" panose="04020404031007020602" pitchFamily="82" charset="0"/>
              </a:rPr>
              <a:t> and got awards for quality products from reputed organizations.</a:t>
            </a:r>
          </a:p>
        </p:txBody>
      </p:sp>
      <p:sp>
        <p:nvSpPr>
          <p:cNvPr id="4" name="TextBox4"/>
          <p:cNvSpPr txBox="1">
            <a:spLocks noChangeArrowheads="1"/>
          </p:cNvSpPr>
          <p:nvPr/>
        </p:nvSpPr>
        <p:spPr bwMode="white">
          <a:xfrm>
            <a:off x="675894" y="3429000"/>
            <a:ext cx="5561330" cy="1754326"/>
          </a:xfrm>
          <a:prstGeom prst="rect">
            <a:avLst/>
          </a:prstGeom>
          <a:ln>
            <a:headEnd type="none"/>
            <a:tailEnd type="none"/>
          </a:ln>
        </p:spPr>
        <p:txBody>
          <a:bodyPr wrap="square">
            <a:spAutoFit/>
          </a:bodyPr>
          <a:lstStyle/>
          <a:p>
            <a:pPr marL="444500" indent="-444500" defTabSz="914400">
              <a:buAutoNum type="arabicPeriod"/>
            </a:pPr>
            <a:r>
              <a:rPr dirty="0">
                <a:latin typeface="Algerian" panose="04020705040A02060702" pitchFamily="82" charset="0"/>
              </a:rPr>
              <a:t>The company acquired the </a:t>
            </a:r>
            <a:r>
              <a:rPr dirty="0">
                <a:highlight>
                  <a:srgbClr val="00FF00"/>
                </a:highlight>
                <a:latin typeface="Algerian" panose="04020705040A02060702" pitchFamily="82" charset="0"/>
              </a:rPr>
              <a:t>MCY corporation for 20 billion dollars</a:t>
            </a:r>
            <a:r>
              <a:rPr dirty="0">
                <a:latin typeface="Algerian" panose="04020705040A02060702" pitchFamily="82" charset="0"/>
              </a:rPr>
              <a:t> and became the top revenue maker for the year 2015.</a:t>
            </a:r>
          </a:p>
          <a:p>
            <a:pPr marL="444500" indent="-444500" defTabSz="914400">
              <a:buAutoNum type="arabicPeriod"/>
            </a:pPr>
            <a:r>
              <a:rPr dirty="0">
                <a:latin typeface="Andy" panose="02000606000000020003" pitchFamily="2" charset="0"/>
              </a:rPr>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7333" y="3030093"/>
            <a:ext cx="4629658" cy="2440432"/>
          </a:xfrm>
          <a:prstGeom prst="rect">
            <a:avLst/>
          </a:prstGeom>
          <a:ln>
            <a:headEnd type="none"/>
            <a:tailEnd type="none"/>
          </a:ln>
        </p:spPr>
      </p:pic>
      <p:sp>
        <p:nvSpPr>
          <p:cNvPr id="6" name="Explosion16"/>
          <p:cNvSpPr>
            <a:spLocks/>
          </p:cNvSpPr>
          <p:nvPr/>
        </p:nvSpPr>
        <p:spPr bwMode="white">
          <a:xfrm>
            <a:off x="621411" y="5470017"/>
            <a:ext cx="1322451" cy="1022858"/>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400"/>
            <a:r>
              <a:t>IMN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4C7F234-8050-2FF0-96AF-E57E18D3288C}"/>
              </a:ext>
            </a:extLst>
          </p:cNvPr>
          <p:cNvGraphicFramePr>
            <a:graphicFrameLocks noGrp="1"/>
          </p:cNvGraphicFramePr>
          <p:nvPr>
            <p:extLst>
              <p:ext uri="{D42A27DB-BD31-4B8C-83A1-F6EECF244321}">
                <p14:modId xmlns:p14="http://schemas.microsoft.com/office/powerpoint/2010/main" val="1636077736"/>
              </p:ext>
            </p:extLst>
          </p:nvPr>
        </p:nvGraphicFramePr>
        <p:xfrm>
          <a:off x="588252" y="2946158"/>
          <a:ext cx="10610690" cy="3760830"/>
        </p:xfrm>
        <a:graphic>
          <a:graphicData uri="http://schemas.openxmlformats.org/drawingml/2006/table">
            <a:tbl>
              <a:tblPr firstCol="1" bandRow="1">
                <a:tableStyleId>{7DF18680-E054-41AD-8BC1-D1AEF772440D}</a:tableStyleId>
              </a:tblPr>
              <a:tblGrid>
                <a:gridCol w="2561201">
                  <a:extLst>
                    <a:ext uri="{9D8B030D-6E8A-4147-A177-3AD203B41FA5}">
                      <a16:colId xmlns:a16="http://schemas.microsoft.com/office/drawing/2014/main" val="1464616093"/>
                    </a:ext>
                  </a:extLst>
                </a:gridCol>
                <a:gridCol w="8049489">
                  <a:extLst>
                    <a:ext uri="{9D8B030D-6E8A-4147-A177-3AD203B41FA5}">
                      <a16:colId xmlns:a16="http://schemas.microsoft.com/office/drawing/2014/main" val="1192474542"/>
                    </a:ext>
                  </a:extLst>
                </a:gridCol>
              </a:tblGrid>
              <a:tr h="890100">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Project Vision</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Launch a website on 4/18/2025 that allows customers to purchase products online and reflects Adventure Works Cycle having the highest quality and the best products in its category.</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extLst>
                  <a:ext uri="{0D108BD9-81ED-4DB2-BD59-A6C34878D82A}">
                    <a16:rowId xmlns:a16="http://schemas.microsoft.com/office/drawing/2014/main" val="3649554764"/>
                  </a:ext>
                </a:extLst>
              </a:tr>
              <a:tr h="660210">
                <a:tc>
                  <a:txBody>
                    <a:bodyPr/>
                    <a:lstStyle/>
                    <a:p>
                      <a:pPr marL="0" marR="0">
                        <a:lnSpc>
                          <a:spcPct val="107000"/>
                        </a:lnSpc>
                        <a:spcAft>
                          <a:spcPts val="800"/>
                        </a:spcAft>
                      </a:pPr>
                      <a:r>
                        <a:rPr lang="en-US" sz="1200">
                          <a:effectLst/>
                          <a:latin typeface="Cambria" panose="02040503050406030204" pitchFamily="18" charset="0"/>
                          <a:ea typeface="Cambria" panose="02040503050406030204" pitchFamily="18" charset="0"/>
                        </a:rPr>
                        <a:t>Issues</a:t>
                      </a:r>
                      <a:endParaRPr lang="en-US" sz="110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By the end of next month, if we do not have a finalized product image, we will not be able to meet our deployment deadline.</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extLst>
                  <a:ext uri="{0D108BD9-81ED-4DB2-BD59-A6C34878D82A}">
                    <a16:rowId xmlns:a16="http://schemas.microsoft.com/office/drawing/2014/main" val="3974283757"/>
                  </a:ext>
                </a:extLst>
              </a:tr>
              <a:tr h="660210">
                <a:tc>
                  <a:txBody>
                    <a:bodyPr/>
                    <a:lstStyle/>
                    <a:p>
                      <a:pPr marL="0" marR="0">
                        <a:lnSpc>
                          <a:spcPct val="107000"/>
                        </a:lnSpc>
                        <a:spcAft>
                          <a:spcPts val="800"/>
                        </a:spcAft>
                      </a:pPr>
                      <a:r>
                        <a:rPr lang="en-US" sz="1200">
                          <a:effectLst/>
                          <a:latin typeface="Cambria" panose="02040503050406030204" pitchFamily="18" charset="0"/>
                          <a:ea typeface="Cambria" panose="02040503050406030204" pitchFamily="18" charset="0"/>
                        </a:rPr>
                        <a:t>Milestone accomplished</a:t>
                      </a:r>
                      <a:endParaRPr lang="en-US" sz="110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Framed the basic structure of website.</a:t>
                      </a:r>
                      <a:br>
                        <a:rPr lang="en-US" sz="1100" dirty="0">
                          <a:effectLst/>
                          <a:latin typeface="Cambria" panose="02040503050406030204" pitchFamily="18" charset="0"/>
                          <a:ea typeface="Cambria" panose="02040503050406030204" pitchFamily="18" charset="0"/>
                        </a:rPr>
                      </a:br>
                      <a:r>
                        <a:rPr lang="en-US" sz="1200" dirty="0">
                          <a:effectLst/>
                          <a:latin typeface="Cambria" panose="02040503050406030204" pitchFamily="18" charset="0"/>
                          <a:ea typeface="Cambria" panose="02040503050406030204" pitchFamily="18" charset="0"/>
                        </a:rPr>
                        <a:t>Applied for design review.</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extLst>
                  <a:ext uri="{0D108BD9-81ED-4DB2-BD59-A6C34878D82A}">
                    <a16:rowId xmlns:a16="http://schemas.microsoft.com/office/drawing/2014/main" val="3424702825"/>
                  </a:ext>
                </a:extLst>
              </a:tr>
              <a:tr h="660210">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Milestones planned for next week</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Prepare design files for development.</a:t>
                      </a:r>
                      <a:br>
                        <a:rPr lang="en-US" sz="1100" dirty="0">
                          <a:effectLst/>
                          <a:latin typeface="Cambria" panose="02040503050406030204" pitchFamily="18" charset="0"/>
                          <a:ea typeface="Cambria" panose="02040503050406030204" pitchFamily="18" charset="0"/>
                        </a:rPr>
                      </a:br>
                      <a:r>
                        <a:rPr lang="en-US" sz="1200" dirty="0">
                          <a:effectLst/>
                          <a:latin typeface="Cambria" panose="02040503050406030204" pitchFamily="18" charset="0"/>
                          <a:ea typeface="Cambria" panose="02040503050406030204" pitchFamily="18" charset="0"/>
                        </a:rPr>
                        <a:t>Start development - Sprint 1 (Homepage &amp; Product Detail Page).</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extLst>
                  <a:ext uri="{0D108BD9-81ED-4DB2-BD59-A6C34878D82A}">
                    <a16:rowId xmlns:a16="http://schemas.microsoft.com/office/drawing/2014/main" val="888024937"/>
                  </a:ext>
                </a:extLst>
              </a:tr>
              <a:tr h="890100">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Upcoming milestones</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latin typeface="Cambria" panose="02040503050406030204" pitchFamily="18" charset="0"/>
                          <a:ea typeface="Cambria" panose="02040503050406030204" pitchFamily="18" charset="0"/>
                        </a:rPr>
                        <a:t>3/14/2025 : Design Approval</a:t>
                      </a:r>
                      <a:br>
                        <a:rPr lang="en-US" sz="1100" dirty="0">
                          <a:effectLst/>
                          <a:latin typeface="Cambria" panose="02040503050406030204" pitchFamily="18" charset="0"/>
                          <a:ea typeface="Cambria" panose="02040503050406030204" pitchFamily="18" charset="0"/>
                        </a:rPr>
                      </a:br>
                      <a:r>
                        <a:rPr lang="en-US" sz="1200" dirty="0">
                          <a:effectLst/>
                          <a:latin typeface="Cambria" panose="02040503050406030204" pitchFamily="18" charset="0"/>
                          <a:ea typeface="Cambria" panose="02040503050406030204" pitchFamily="18" charset="0"/>
                        </a:rPr>
                        <a:t>3/29/2025 : Development Begins</a:t>
                      </a:r>
                      <a:br>
                        <a:rPr lang="en-US" sz="1100" dirty="0">
                          <a:effectLst/>
                          <a:latin typeface="Cambria" panose="02040503050406030204" pitchFamily="18" charset="0"/>
                          <a:ea typeface="Cambria" panose="02040503050406030204" pitchFamily="18" charset="0"/>
                        </a:rPr>
                      </a:br>
                      <a:r>
                        <a:rPr lang="en-US" sz="1200" dirty="0">
                          <a:effectLst/>
                          <a:latin typeface="Cambria" panose="02040503050406030204" pitchFamily="18" charset="0"/>
                          <a:ea typeface="Cambria" panose="02040503050406030204" pitchFamily="18" charset="0"/>
                        </a:rPr>
                        <a:t>4/13/2025 : Deployment</a:t>
                      </a:r>
                      <a:endParaRPr lang="en-US" sz="1100" dirty="0">
                        <a:effectLst/>
                        <a:latin typeface="Cambria" panose="02040503050406030204" pitchFamily="18" charset="0"/>
                        <a:ea typeface="Cambria" panose="02040503050406030204" pitchFamily="18" charset="0"/>
                        <a:cs typeface="Calibri" panose="020F0502020204030204" pitchFamily="34" charset="0"/>
                      </a:endParaRPr>
                    </a:p>
                  </a:txBody>
                  <a:tcPr marL="88900" marR="88900" marT="88900" marB="88900" anchor="ctr"/>
                </a:tc>
                <a:extLst>
                  <a:ext uri="{0D108BD9-81ED-4DB2-BD59-A6C34878D82A}">
                    <a16:rowId xmlns:a16="http://schemas.microsoft.com/office/drawing/2014/main" val="4183265658"/>
                  </a:ext>
                </a:extLst>
              </a:tr>
            </a:tbl>
          </a:graphicData>
        </a:graphic>
      </p:graphicFrame>
      <p:sp>
        <p:nvSpPr>
          <p:cNvPr id="9" name="TextBox 8">
            <a:extLst>
              <a:ext uri="{FF2B5EF4-FFF2-40B4-BE49-F238E27FC236}">
                <a16:creationId xmlns:a16="http://schemas.microsoft.com/office/drawing/2014/main" id="{A6D6B924-2B9F-B3DE-BBE1-E639A4ADAB3B}"/>
              </a:ext>
            </a:extLst>
          </p:cNvPr>
          <p:cNvSpPr txBox="1"/>
          <p:nvPr/>
        </p:nvSpPr>
        <p:spPr>
          <a:xfrm>
            <a:off x="548640" y="1371600"/>
            <a:ext cx="1698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Date :</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FormField_TextBox 9">
            <a:extLst>
              <a:ext uri="{FF2B5EF4-FFF2-40B4-BE49-F238E27FC236}">
                <a16:creationId xmlns:a16="http://schemas.microsoft.com/office/drawing/2014/main" id="{197C4A2F-487A-7321-C8AD-A074D599DEE5}"/>
              </a:ext>
            </a:extLst>
          </p:cNvPr>
          <p:cNvSpPr txBox="1"/>
          <p:nvPr/>
        </p:nvSpPr>
        <p:spPr>
          <a:xfrm>
            <a:off x="2553927" y="1371600"/>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2/27/2025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5554430-6FF4-BB15-4718-7594F7558754}"/>
              </a:ext>
            </a:extLst>
          </p:cNvPr>
          <p:cNvSpPr txBox="1"/>
          <p:nvPr/>
        </p:nvSpPr>
        <p:spPr>
          <a:xfrm>
            <a:off x="548640" y="172594"/>
            <a:ext cx="10607040" cy="595932"/>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Project Status Report</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7A20EDBF-C07E-47F1-E82D-201E68C10164}"/>
              </a:ext>
            </a:extLst>
          </p:cNvPr>
          <p:cNvSpPr txBox="1"/>
          <p:nvPr/>
        </p:nvSpPr>
        <p:spPr>
          <a:xfrm>
            <a:off x="548640" y="950976"/>
            <a:ext cx="23697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Status :</a:t>
            </a:r>
          </a:p>
        </p:txBody>
      </p:sp>
      <p:sp>
        <p:nvSpPr>
          <p:cNvPr id="13" name="FormField_TextBox 12">
            <a:extLst>
              <a:ext uri="{FF2B5EF4-FFF2-40B4-BE49-F238E27FC236}">
                <a16:creationId xmlns:a16="http://schemas.microsoft.com/office/drawing/2014/main" id="{6C84F9BC-5BE8-053A-6EC1-27B0E5E208E8}"/>
              </a:ext>
            </a:extLst>
          </p:cNvPr>
          <p:cNvSpPr txBox="1"/>
          <p:nvPr/>
        </p:nvSpPr>
        <p:spPr>
          <a:xfrm>
            <a:off x="2553927" y="950976"/>
            <a:ext cx="12327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In-Progress</a:t>
            </a:r>
          </a:p>
        </p:txBody>
      </p:sp>
      <p:sp>
        <p:nvSpPr>
          <p:cNvPr id="14" name="TextBox 13">
            <a:extLst>
              <a:ext uri="{FF2B5EF4-FFF2-40B4-BE49-F238E27FC236}">
                <a16:creationId xmlns:a16="http://schemas.microsoft.com/office/drawing/2014/main" id="{0E445A13-0B30-07C1-858A-9145405B58A4}"/>
              </a:ext>
            </a:extLst>
          </p:cNvPr>
          <p:cNvSpPr txBox="1"/>
          <p:nvPr/>
        </p:nvSpPr>
        <p:spPr>
          <a:xfrm>
            <a:off x="548640" y="1794780"/>
            <a:ext cx="2007782"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Project Name :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 name="FormField_TextBox 14">
            <a:extLst>
              <a:ext uri="{FF2B5EF4-FFF2-40B4-BE49-F238E27FC236}">
                <a16:creationId xmlns:a16="http://schemas.microsoft.com/office/drawing/2014/main" id="{B7999298-A9AB-889F-264D-43DC5A1437EC}"/>
              </a:ext>
            </a:extLst>
          </p:cNvPr>
          <p:cNvSpPr txBox="1"/>
          <p:nvPr/>
        </p:nvSpPr>
        <p:spPr>
          <a:xfrm>
            <a:off x="2553927" y="1792224"/>
            <a:ext cx="3434466"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Website for Adventure works cycle</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98BC359-62F2-06AC-C4CB-EB9FB44E2181}"/>
              </a:ext>
            </a:extLst>
          </p:cNvPr>
          <p:cNvSpPr txBox="1"/>
          <p:nvPr/>
        </p:nvSpPr>
        <p:spPr>
          <a:xfrm>
            <a:off x="548640" y="2304288"/>
            <a:ext cx="2459958"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Project Manager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FormField_TextBox 16">
            <a:extLst>
              <a:ext uri="{FF2B5EF4-FFF2-40B4-BE49-F238E27FC236}">
                <a16:creationId xmlns:a16="http://schemas.microsoft.com/office/drawing/2014/main" id="{A17898EB-B710-4263-979C-BAC979F02489}"/>
              </a:ext>
            </a:extLst>
          </p:cNvPr>
          <p:cNvSpPr txBox="1"/>
          <p:nvPr/>
        </p:nvSpPr>
        <p:spPr>
          <a:xfrm>
            <a:off x="2553927" y="2304288"/>
            <a:ext cx="1522020"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Nancy </a:t>
            </a:r>
            <a:r>
              <a:rPr kumimoji="0" lang="en-US"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Davolio</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136B717-11D3-4971-B044-FBCF4FCCE792}"/>
              </a:ext>
            </a:extLst>
          </p:cNvPr>
          <p:cNvSpPr txBox="1"/>
          <p:nvPr/>
        </p:nvSpPr>
        <p:spPr>
          <a:xfrm>
            <a:off x="7269480" y="950976"/>
            <a:ext cx="1529310"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Team size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9" name="FormField_TextBox 18">
            <a:extLst>
              <a:ext uri="{FF2B5EF4-FFF2-40B4-BE49-F238E27FC236}">
                <a16:creationId xmlns:a16="http://schemas.microsoft.com/office/drawing/2014/main" id="{5B21B834-966A-2688-BCAF-326339EBDE33}"/>
              </a:ext>
            </a:extLst>
          </p:cNvPr>
          <p:cNvSpPr txBox="1"/>
          <p:nvPr/>
        </p:nvSpPr>
        <p:spPr>
          <a:xfrm>
            <a:off x="8823960" y="950976"/>
            <a:ext cx="431528" cy="377860"/>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405656A6-995A-F969-B802-85CA147C7C38}"/>
              </a:ext>
            </a:extLst>
          </p:cNvPr>
          <p:cNvSpPr txBox="1"/>
          <p:nvPr/>
        </p:nvSpPr>
        <p:spPr>
          <a:xfrm>
            <a:off x="7269480" y="1371600"/>
            <a:ext cx="1529310"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Platform :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FormField_TextBox 20">
            <a:extLst>
              <a:ext uri="{FF2B5EF4-FFF2-40B4-BE49-F238E27FC236}">
                <a16:creationId xmlns:a16="http://schemas.microsoft.com/office/drawing/2014/main" id="{62853D8A-7E05-98FC-3526-19891F888550}"/>
              </a:ext>
            </a:extLst>
          </p:cNvPr>
          <p:cNvSpPr txBox="1"/>
          <p:nvPr/>
        </p:nvSpPr>
        <p:spPr>
          <a:xfrm>
            <a:off x="8823960" y="1371600"/>
            <a:ext cx="943913"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ASP.NET</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C164C8A2-E2E5-A20A-E797-867D92DF49F3}"/>
              </a:ext>
            </a:extLst>
          </p:cNvPr>
          <p:cNvSpPr txBox="1"/>
          <p:nvPr/>
        </p:nvSpPr>
        <p:spPr>
          <a:xfrm>
            <a:off x="7269480" y="1792224"/>
            <a:ext cx="15293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Start Date :</a:t>
            </a:r>
          </a:p>
        </p:txBody>
      </p:sp>
      <p:sp>
        <p:nvSpPr>
          <p:cNvPr id="23" name="FormField_TextBox 22">
            <a:extLst>
              <a:ext uri="{FF2B5EF4-FFF2-40B4-BE49-F238E27FC236}">
                <a16:creationId xmlns:a16="http://schemas.microsoft.com/office/drawing/2014/main" id="{AB939302-6A65-F684-5DDD-E6C2DA5686C4}"/>
              </a:ext>
            </a:extLst>
          </p:cNvPr>
          <p:cNvSpPr txBox="1"/>
          <p:nvPr/>
        </p:nvSpPr>
        <p:spPr>
          <a:xfrm>
            <a:off x="8823960" y="1792224"/>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2/27/2025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E4BB967E-EC6B-64B4-18E4-2F07CD25E606}"/>
              </a:ext>
            </a:extLst>
          </p:cNvPr>
          <p:cNvSpPr txBox="1"/>
          <p:nvPr/>
        </p:nvSpPr>
        <p:spPr>
          <a:xfrm>
            <a:off x="7269480" y="2304288"/>
            <a:ext cx="15293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End Date :</a:t>
            </a:r>
          </a:p>
        </p:txBody>
      </p:sp>
      <p:sp>
        <p:nvSpPr>
          <p:cNvPr id="25" name="FormField_TextBox 24">
            <a:extLst>
              <a:ext uri="{FF2B5EF4-FFF2-40B4-BE49-F238E27FC236}">
                <a16:creationId xmlns:a16="http://schemas.microsoft.com/office/drawing/2014/main" id="{BBAB2B1F-AB52-212E-0AEC-C610A5F335D4}"/>
              </a:ext>
            </a:extLst>
          </p:cNvPr>
          <p:cNvSpPr txBox="1"/>
          <p:nvPr/>
        </p:nvSpPr>
        <p:spPr>
          <a:xfrm>
            <a:off x="8823960" y="2304288"/>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4/20/2025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1614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8032F8-941F-B645-4104-0D0D62064103}"/>
              </a:ext>
            </a:extLst>
          </p:cNvPr>
          <p:cNvPicPr>
            <a:picLocks noChangeAspect="1"/>
          </p:cNvPicPr>
          <p:nvPr/>
        </p:nvPicPr>
        <p:blipFill>
          <a:blip r:embed="rId2"/>
          <a:stretch>
            <a:fillRect/>
          </a:stretch>
        </p:blipFill>
        <p:spPr>
          <a:xfrm>
            <a:off x="881031" y="2171546"/>
            <a:ext cx="10429938" cy="2734751"/>
          </a:xfrm>
          <a:prstGeom prst="rect">
            <a:avLst/>
          </a:prstGeom>
        </p:spPr>
      </p:pic>
      <p:sp>
        <p:nvSpPr>
          <p:cNvPr id="4" name="TextBox 3">
            <a:extLst>
              <a:ext uri="{FF2B5EF4-FFF2-40B4-BE49-F238E27FC236}">
                <a16:creationId xmlns:a16="http://schemas.microsoft.com/office/drawing/2014/main" id="{DDE85D2D-86B1-164E-8E2B-854A76E013C1}"/>
              </a:ext>
            </a:extLst>
          </p:cNvPr>
          <p:cNvSpPr txBox="1"/>
          <p:nvPr/>
        </p:nvSpPr>
        <p:spPr>
          <a:xfrm>
            <a:off x="881031" y="701619"/>
            <a:ext cx="7159850" cy="595932"/>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EMF Image of Company Structure</a:t>
            </a:r>
            <a:endPar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607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4088" y="292608"/>
            <a:ext cx="7278624" cy="905256"/>
          </a:xfrm>
          <a:ln>
            <a:headEnd type="none"/>
            <a:tailEnd type="none"/>
          </a:ln>
        </p:spPr>
        <p:txBody>
          <a:bodyPr wrap="square"/>
          <a:lstStyle/>
          <a:p>
            <a:pPr algn="l" defTabSz="914400"/>
            <a:r>
              <a:rPr lang="en-US" sz="4000" dirty="0">
                <a:latin typeface="Helvetica CE 35 Thin"/>
                <a:ea typeface="Helvetica CE 35 Thin"/>
                <a:cs typeface="Helvetica CE 35 Thin"/>
              </a:rPr>
              <a:t>Product Overview</a:t>
            </a:r>
            <a:endParaRPr sz="4000" dirty="0">
              <a:latin typeface="Helvetica CE 35 Thin"/>
              <a:ea typeface="Helvetica CE 35 Thin"/>
              <a:cs typeface="Helvetica CE 35 Thin"/>
            </a:endParaRPr>
          </a:p>
        </p:txBody>
      </p:sp>
      <p:sp>
        <p:nvSpPr>
          <p:cNvPr id="3" name="Text Placeholder 2"/>
          <p:cNvSpPr>
            <a:spLocks noGrp="1"/>
          </p:cNvSpPr>
          <p:nvPr>
            <p:ph type="body" idx="1"/>
          </p:nvPr>
        </p:nvSpPr>
        <p:spPr bwMode="white">
          <a:xfrm>
            <a:off x="1106424" y="1517904"/>
            <a:ext cx="9217152" cy="4507992"/>
          </a:xfrm>
          <a:ln>
            <a:headEnd type="none"/>
            <a:tailEnd type="none"/>
          </a:ln>
        </p:spPr>
        <p:txBody>
          <a:bodyPr wrap="square">
            <a:normAutofit/>
          </a:bodyPr>
          <a:lstStyle/>
          <a:p>
            <a:pPr marL="285750" indent="-285750" algn="l" defTabSz="914400">
              <a:buFont typeface="Arial" panose="020B0604020202020204" pitchFamily="34" charset="0"/>
              <a:buChar char="•"/>
            </a:pPr>
            <a:r>
              <a:rPr lang="en-US" sz="1800" dirty="0">
                <a:solidFill>
                  <a:srgbClr val="000000"/>
                </a:solidFill>
                <a:latin typeface="Harrington" panose="04040505050A02020702" pitchFamily="82" charset="0"/>
                <a:ea typeface="BatangChe" panose="02030609000101010101" pitchFamily="49" charset="-127"/>
                <a:cs typeface="Ebrima" panose="02000000000000000000" pitchFamily="2" charset="0"/>
              </a:rPr>
              <a:t>Adventure Works Cycles, the fictitious company on which the Adventure Works sample databases are based, is a large, multinational manufacturing company. </a:t>
            </a:r>
          </a:p>
          <a:p>
            <a:pPr marL="285750" indent="-285750" algn="l" defTabSz="914400">
              <a:buFont typeface="Arial" panose="020B0604020202020204" pitchFamily="34" charset="0"/>
              <a:buChar char="•"/>
            </a:pPr>
            <a:r>
              <a:rPr lang="en-US" sz="1800" dirty="0">
                <a:solidFill>
                  <a:srgbClr val="000000"/>
                </a:solidFill>
                <a:latin typeface="Harrington" panose="04040505050A02020702" pitchFamily="82" charset="0"/>
                <a:ea typeface="BatangChe" panose="02030609000101010101" pitchFamily="49" charset="-127"/>
                <a:cs typeface="Ebrima" panose="02000000000000000000" pitchFamily="2" charset="0"/>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750" indent="-285750" algn="l" defTabSz="914400">
              <a:buFont typeface="Arial" panose="020B0604020202020204" pitchFamily="34" charset="0"/>
              <a:buChar char="•"/>
            </a:pPr>
            <a:r>
              <a:rPr lang="en-US" sz="1800" dirty="0">
                <a:solidFill>
                  <a:srgbClr val="000000"/>
                </a:solidFill>
                <a:latin typeface="Harrington" panose="04040505050A02020702" pitchFamily="82" charset="0"/>
                <a:ea typeface="BatangChe" panose="02030609000101010101" pitchFamily="49" charset="-127"/>
                <a:cs typeface="Ebrima" panose="02000000000000000000" pitchFamily="2" charset="0"/>
              </a:rPr>
              <a:t>In 2000, Adventure Works Cycles bought a small manufacturing plant, </a:t>
            </a:r>
            <a:r>
              <a:rPr lang="en-US" sz="1800" dirty="0" err="1">
                <a:solidFill>
                  <a:srgbClr val="000000"/>
                </a:solidFill>
                <a:latin typeface="Harrington" panose="04040505050A02020702" pitchFamily="82" charset="0"/>
                <a:ea typeface="BatangChe" panose="02030609000101010101" pitchFamily="49" charset="-127"/>
                <a:cs typeface="Ebrima" panose="02000000000000000000" pitchFamily="2" charset="0"/>
              </a:rPr>
              <a:t>Importadores</a:t>
            </a:r>
            <a:r>
              <a:rPr lang="en-US" sz="1800" dirty="0">
                <a:solidFill>
                  <a:srgbClr val="000000"/>
                </a:solidFill>
                <a:latin typeface="Harrington" panose="04040505050A02020702" pitchFamily="82" charset="0"/>
                <a:ea typeface="BatangChe" panose="02030609000101010101" pitchFamily="49" charset="-127"/>
                <a:cs typeface="Ebrima" panose="02000000000000000000" pitchFamily="2" charset="0"/>
              </a:rPr>
              <a:t> Neptuno, located in Mexico. Importadores Neptuno manufactures several critical subcomponents for the Adventure Works Cycles production line. </a:t>
            </a:r>
          </a:p>
          <a:p>
            <a:pPr marL="285750" indent="-285750" algn="l" defTabSz="914400">
              <a:buFont typeface="Arial" panose="020B0604020202020204" pitchFamily="34" charset="0"/>
              <a:buChar char="•"/>
            </a:pPr>
            <a:r>
              <a:rPr lang="en-US" sz="1800" dirty="0">
                <a:solidFill>
                  <a:srgbClr val="000000"/>
                </a:solidFill>
                <a:latin typeface="Harrington" panose="04040505050A02020702" pitchFamily="82" charset="0"/>
                <a:ea typeface="BatangChe" panose="02030609000101010101" pitchFamily="49" charset="-127"/>
                <a:cs typeface="Ebrima" panose="02000000000000000000" pitchFamily="2" charset="0"/>
              </a:rPr>
              <a:t>These subcomponents are shipped to the Bothell location for final product assembly. In 2001, Importadores Neptuno, became the sole manufacturer and distributor of the touring bicycle productivity group.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AF446A2-4B07-1266-1DE8-BD5AF6C1E126}"/>
              </a:ext>
            </a:extLst>
          </p:cNvPr>
          <p:cNvSpPr txBox="1">
            <a:spLocks/>
          </p:cNvSpPr>
          <p:nvPr/>
        </p:nvSpPr>
        <p:spPr>
          <a:xfrm>
            <a:off x="761839" y="871146"/>
            <a:ext cx="4544762" cy="14011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CHEST X-RAY REPORT</a:t>
            </a:r>
          </a:p>
        </p:txBody>
      </p:sp>
      <p:sp>
        <p:nvSpPr>
          <p:cNvPr id="11" name="Rectangle 9">
            <a:extLst>
              <a:ext uri="{FF2B5EF4-FFF2-40B4-BE49-F238E27FC236}">
                <a16:creationId xmlns:a16="http://schemas.microsoft.com/office/drawing/2014/main" id="{5673CC79-1B73-5AA5-74EE-DCBA87C263E6}"/>
              </a:ext>
            </a:extLst>
          </p:cNvPr>
          <p:cNvSpPr>
            <a:spLocks noChangeArrowheads="1"/>
          </p:cNvSpPr>
          <p:nvPr/>
        </p:nvSpPr>
        <p:spPr bwMode="auto">
          <a:xfrm>
            <a:off x="761839" y="1760198"/>
            <a:ext cx="5334161" cy="41479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n-US" dirty="0">
              <a:latin typeface="Candara Light" panose="020E0502030303020204" pitchFamily="34" charset="0"/>
            </a:endParaRPr>
          </a:p>
          <a:p>
            <a:pPr marR="0" lvl="0" eaLnBrk="1" fontAlgn="base" hangingPunct="1">
              <a:lnSpc>
                <a:spcPct val="90000"/>
              </a:lnSpc>
              <a:spcBef>
                <a:spcPct val="0"/>
              </a:spcBef>
              <a:spcAft>
                <a:spcPts val="600"/>
              </a:spcAft>
              <a:buClrTx/>
              <a:buSzTx/>
              <a:tabLst/>
            </a:pPr>
            <a:r>
              <a:rPr lang="en-US" altLang="en-US" b="1" dirty="0">
                <a:latin typeface="Candara Light" panose="020E0502030303020204" pitchFamily="34" charset="0"/>
                <a:cs typeface="Times New Roman" panose="02020603050405020304" pitchFamily="18" charset="0"/>
              </a:rPr>
              <a:t>X-ray Number : </a:t>
            </a:r>
            <a:r>
              <a:rPr lang="en-US" altLang="en-US" dirty="0">
                <a:latin typeface="Candara Light" panose="020E0502030303020204" pitchFamily="34" charset="0"/>
              </a:rPr>
              <a:t>52587412</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n-US" dirty="0">
              <a:latin typeface="Candara Light" panose="020E0502030303020204" pitchFamily="34" charset="0"/>
            </a:endParaRPr>
          </a:p>
          <a:p>
            <a:pPr marR="0" lvl="0" eaLnBrk="1" fontAlgn="base" hangingPunct="1">
              <a:lnSpc>
                <a:spcPct val="90000"/>
              </a:lnSpc>
              <a:spcBef>
                <a:spcPct val="0"/>
              </a:spcBef>
              <a:spcAft>
                <a:spcPts val="600"/>
              </a:spcAft>
              <a:buClrTx/>
              <a:buSzTx/>
              <a:tabLst/>
            </a:pPr>
            <a:r>
              <a:rPr lang="en-US" altLang="en-US" b="1" dirty="0">
                <a:latin typeface="Candara Light" panose="020E0502030303020204" pitchFamily="34" charset="0"/>
                <a:cs typeface="Times New Roman" panose="02020603050405020304" pitchFamily="18" charset="0"/>
              </a:rPr>
              <a:t>READINGS :</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Candara Light" panose="020E0502030303020204" pitchFamily="34" charset="0"/>
                <a:cs typeface="Times New Roman" panose="02020603050405020304" pitchFamily="18" charset="0"/>
              </a:rPr>
              <a:t>Lungs : </a:t>
            </a:r>
            <a:r>
              <a:rPr lang="en-US" altLang="en-US" dirty="0">
                <a:latin typeface="Candara Light" panose="020E0502030303020204" pitchFamily="34" charset="0"/>
              </a:rPr>
              <a:t>Clear and well-inflated; no signs of pneumonia, pneumothorax, or effusion.</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Candara Light" panose="020E0502030303020204" pitchFamily="34" charset="0"/>
                <a:cs typeface="Times New Roman" panose="02020603050405020304" pitchFamily="18" charset="0"/>
              </a:rPr>
              <a:t>Heart : </a:t>
            </a:r>
            <a:r>
              <a:rPr lang="en-US" altLang="en-US" dirty="0">
                <a:latin typeface="Candara Light" panose="020E0502030303020204" pitchFamily="34" charset="0"/>
              </a:rPr>
              <a:t>Normal size and shape; cardiac silhouette within normal limits; no cardiomegaly or pericardial effusion. </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Candara Light" panose="020E0502030303020204" pitchFamily="34" charset="0"/>
                <a:cs typeface="Times New Roman" panose="02020603050405020304" pitchFamily="18" charset="0"/>
              </a:rPr>
              <a:t>Diaphragms :</a:t>
            </a:r>
            <a:r>
              <a:rPr lang="en-US" altLang="en-US" b="1" dirty="0">
                <a:latin typeface="Candara Light" panose="020E0502030303020204" pitchFamily="34" charset="0"/>
              </a:rPr>
              <a:t> </a:t>
            </a:r>
            <a:r>
              <a:rPr lang="en-US" altLang="en-US" dirty="0">
                <a:latin typeface="Candara Light" panose="020E0502030303020204" pitchFamily="34" charset="0"/>
              </a:rPr>
              <a:t>Well-defined and even; no elevation or depression.</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Candara Light" panose="020E0502030303020204" pitchFamily="34" charset="0"/>
                <a:cs typeface="Times New Roman" panose="02020603050405020304" pitchFamily="18" charset="0"/>
              </a:rPr>
              <a:t>Bones :</a:t>
            </a:r>
            <a:r>
              <a:rPr lang="en-US" altLang="en-US" b="1" dirty="0">
                <a:latin typeface="Candara Light" panose="020E0502030303020204" pitchFamily="34" charset="0"/>
              </a:rPr>
              <a:t> </a:t>
            </a:r>
            <a:r>
              <a:rPr lang="en-US" altLang="en-US" dirty="0">
                <a:latin typeface="Candara Light" panose="020E0502030303020204" pitchFamily="34" charset="0"/>
              </a:rPr>
              <a:t>Normal appearance; no fractures or dislocations.</a:t>
            </a:r>
          </a:p>
        </p:txBody>
      </p:sp>
      <p:pic>
        <p:nvPicPr>
          <p:cNvPr id="12" name="Picture 1" descr="A chest x-ray of a person&#10;&#10;Description automatically generated">
            <a:extLst>
              <a:ext uri="{FF2B5EF4-FFF2-40B4-BE49-F238E27FC236}">
                <a16:creationId xmlns:a16="http://schemas.microsoft.com/office/drawing/2014/main" id="{E3689B34-F6A6-D4EE-3C2A-7FB96FFCDC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69394" y="771754"/>
            <a:ext cx="4005494" cy="4579148"/>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6">
            <a:extLst>
              <a:ext uri="{FF2B5EF4-FFF2-40B4-BE49-F238E27FC236}">
                <a16:creationId xmlns:a16="http://schemas.microsoft.com/office/drawing/2014/main" id="{D0E5E2ED-8D7A-4B6D-4121-1EDA37E9CBED}"/>
              </a:ext>
            </a:extLst>
          </p:cNvPr>
          <p:cNvSpPr txBox="1"/>
          <p:nvPr/>
        </p:nvSpPr>
        <p:spPr>
          <a:xfrm>
            <a:off x="7695739" y="5452777"/>
            <a:ext cx="3198403" cy="23083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marL="0" marR="0" algn="ctr">
              <a:spcBef>
                <a:spcPts val="0"/>
              </a:spcBef>
              <a:spcAft>
                <a:spcPts val="0"/>
              </a:spcAft>
            </a:pPr>
            <a:r>
              <a:rPr lang="en-US" sz="1500" i="1" dirty="0">
                <a:effectLst/>
                <a:ea typeface="Times New Roman" panose="02020603050405020304" pitchFamily="18" charset="0"/>
              </a:rPr>
              <a:t>Figure 1: Chest X-ray- TIFF Version</a:t>
            </a:r>
          </a:p>
        </p:txBody>
      </p:sp>
    </p:spTree>
    <p:extLst>
      <p:ext uri="{BB962C8B-B14F-4D97-AF65-F5344CB8AC3E}">
        <p14:creationId xmlns:p14="http://schemas.microsoft.com/office/powerpoint/2010/main" val="4027211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3275F726-C0B5-47DE-BC71-6DFED385E2E6}"/>
              </a:ext>
            </a:extLst>
          </p:cNvPr>
          <p:cNvGraphicFramePr/>
          <p:nvPr>
            <p:extLst>
              <p:ext uri="{D42A27DB-BD31-4B8C-83A1-F6EECF244321}">
                <p14:modId xmlns:p14="http://schemas.microsoft.com/office/powerpoint/2010/main" val="1696310475"/>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1059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5263388"/>
        </p:xfrm>
        <a:graphic>
          <a:graphicData uri="http://schemas.openxmlformats.org/drawingml/2006/table">
            <a:tbl>
              <a:tblPr firstRow="1" bandRow="1">
                <a:tableStyleId>{93296810-A885-4BE3-A3E7-6D5BEEA58F35}</a:tableStyleId>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1206500">
                  <a:extLst>
                    <a:ext uri="{9D8B030D-6E8A-4147-A177-3AD203B41FA5}">
                      <a16:colId xmlns:a16="http://schemas.microsoft.com/office/drawing/2014/main" val="20006"/>
                    </a:ext>
                  </a:extLst>
                </a:gridCol>
                <a:gridCol w="1206500">
                  <a:extLst>
                    <a:ext uri="{9D8B030D-6E8A-4147-A177-3AD203B41FA5}">
                      <a16:colId xmlns:a16="http://schemas.microsoft.com/office/drawing/2014/main" val="20007"/>
                    </a:ext>
                  </a:extLst>
                </a:gridCol>
                <a:gridCol w="1206500">
                  <a:extLst>
                    <a:ext uri="{9D8B030D-6E8A-4147-A177-3AD203B41FA5}">
                      <a16:colId xmlns:a16="http://schemas.microsoft.com/office/drawing/2014/main" val="20008"/>
                    </a:ext>
                  </a:extLst>
                </a:gridCol>
              </a:tblGrid>
              <a:tr h="1034288">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extLst>
                  <a:ext uri="{0D108BD9-81ED-4DB2-BD59-A6C34878D82A}">
                    <a16:rowId xmlns:a16="http://schemas.microsoft.com/office/drawing/2014/main" val="10000"/>
                  </a:ext>
                </a:extLst>
              </a:tr>
              <a:tr h="469900">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extLst>
                  <a:ext uri="{0D108BD9-81ED-4DB2-BD59-A6C34878D82A}">
                    <a16:rowId xmlns:a16="http://schemas.microsoft.com/office/drawing/2014/main" val="10001"/>
                  </a:ext>
                </a:extLst>
              </a:tr>
              <a:tr h="469900">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extLst>
                  <a:ext uri="{0D108BD9-81ED-4DB2-BD59-A6C34878D82A}">
                    <a16:rowId xmlns:a16="http://schemas.microsoft.com/office/drawing/2014/main" val="10002"/>
                  </a:ext>
                </a:extLst>
              </a:tr>
              <a:tr h="469900">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extLst>
                  <a:ext uri="{0D108BD9-81ED-4DB2-BD59-A6C34878D82A}">
                    <a16:rowId xmlns:a16="http://schemas.microsoft.com/office/drawing/2014/main" val="10003"/>
                  </a:ext>
                </a:extLst>
              </a:tr>
              <a:tr h="469900">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extLst>
                  <a:ext uri="{0D108BD9-81ED-4DB2-BD59-A6C34878D82A}">
                    <a16:rowId xmlns:a16="http://schemas.microsoft.com/office/drawing/2014/main" val="10004"/>
                  </a:ext>
                </a:extLst>
              </a:tr>
              <a:tr h="469900">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extLst>
                  <a:ext uri="{0D108BD9-81ED-4DB2-BD59-A6C34878D82A}">
                    <a16:rowId xmlns:a16="http://schemas.microsoft.com/office/drawing/2014/main" val="10005"/>
                  </a:ext>
                </a:extLst>
              </a:tr>
              <a:tr h="469900">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extLst>
                  <a:ext uri="{0D108BD9-81ED-4DB2-BD59-A6C34878D82A}">
                    <a16:rowId xmlns:a16="http://schemas.microsoft.com/office/drawing/2014/main" val="10006"/>
                  </a:ext>
                </a:extLst>
              </a:tr>
              <a:tr h="469900">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extLst>
                  <a:ext uri="{0D108BD9-81ED-4DB2-BD59-A6C34878D82A}">
                    <a16:rowId xmlns:a16="http://schemas.microsoft.com/office/drawing/2014/main" val="10007"/>
                  </a:ext>
                </a:extLst>
              </a:tr>
              <a:tr h="469900">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extLst>
                  <a:ext uri="{0D108BD9-81ED-4DB2-BD59-A6C34878D82A}">
                    <a16:rowId xmlns:a16="http://schemas.microsoft.com/office/drawing/2014/main" val="10008"/>
                  </a:ext>
                </a:extLst>
              </a:tr>
              <a:tr h="469900">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546</Words>
  <Application>Microsoft Office PowerPoint</Application>
  <PresentationFormat>Widescreen</PresentationFormat>
  <Paragraphs>140</Paragraphs>
  <Slides>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vt:i4>
      </vt:variant>
    </vt:vector>
  </HeadingPairs>
  <TitlesOfParts>
    <vt:vector size="19" baseType="lpstr">
      <vt:lpstr>Algerian</vt:lpstr>
      <vt:lpstr>Andy</vt:lpstr>
      <vt:lpstr>Arial</vt:lpstr>
      <vt:lpstr>Calibri</vt:lpstr>
      <vt:lpstr>Calibri Light</vt:lpstr>
      <vt:lpstr>Cambria</vt:lpstr>
      <vt:lpstr>Candara Light</vt:lpstr>
      <vt:lpstr>Chiller</vt:lpstr>
      <vt:lpstr>Harrington</vt:lpstr>
      <vt:lpstr>Helvetica CE 35 Thin</vt:lpstr>
      <vt:lpstr>Times New Roman</vt:lpstr>
      <vt:lpstr>Office Theme</vt:lpstr>
      <vt:lpstr>Company History</vt:lpstr>
      <vt:lpstr>PowerPoint Presentation</vt:lpstr>
      <vt:lpstr>PowerPoint Presentation</vt:lpstr>
      <vt:lpstr>Product Overview</vt:lpstr>
      <vt:lpstr>PowerPoint Presentation</vt:lpstr>
      <vt:lpstr>PowerPoint Presentation</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Vijayasurya Anandhan</dc:creator>
  <cp:lastModifiedBy>Karan Nagarathinam</cp:lastModifiedBy>
  <cp:revision>29</cp:revision>
  <dcterms:created xsi:type="dcterms:W3CDTF">2019-02-27T08:36:52Z</dcterms:created>
  <dcterms:modified xsi:type="dcterms:W3CDTF">2026-08-25T06:17:23Z</dcterms:modified>
</cp:coreProperties>
</file>