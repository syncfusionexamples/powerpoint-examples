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9" r:id="rId3"/>
    <p:sldId id="258" r:id="rId4"/>
  </p:sldIdLst>
  <p:sldSz cx="12192000" cy="6858000" type="custom"/>
  <p:notesSz cx="6858000" cy="9144000"/>
  <p:defaultTextStyle>
    <a:defPPr defTabSz="457200">
      <a:defRPr lang="en-US" dirty="0"/>
    </a:defPPr>
    <a:lvl1pPr marL="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/>
    <p:restoredTop sz="94660"/>
  </p:normalViewPr>
  <p:slideViewPr>
    <p:cSldViewPr snapToGrid="0">
      <p:cViewPr varScale="1">
        <p:scale>
          <a:sx n="75" d="100"/>
          <a:sy n="75" d="100"/>
        </p:scale>
        <p:origin x="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lt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lt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Isosceles Triangle 26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1" name="Isosceles Triangle 30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19" name="Isosceles Triangle 18"/>
            <p:cNvSpPr>
              <a:spLocks/>
            </p:cNvSpPr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algn="r">
              <a:defRPr sz="5400" dirty="0">
                <a:solidFill>
                  <a:schemeClr val="accent1"/>
                </a:solidFill>
              </a:defRPr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r">
              <a:buNone/>
              <a:defRPr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Online Image Placeholder 8" descr="{{ProductImage}}"/>
          <p:cNvSpPr>
            <a:spLocks noGrp="1"/>
          </p:cNvSpPr>
          <p:nvPr>
            <p:ph type="clipArt" sz="quarter" idx="13"/>
          </p:nvPr>
        </p:nvSpPr>
        <p:spPr>
          <a:xfrm>
            <a:off x="6096000" y="544513"/>
            <a:ext cx="3178175" cy="140811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>
            <a:normAutofit/>
          </a:bodyPr>
          <a:lstStyle>
            <a:lvl1pPr>
              <a:defRPr sz="36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Picture Placeholder 7" descr="{{ProductImage}}"/>
          <p:cNvSpPr>
            <a:spLocks noGrp="1"/>
          </p:cNvSpPr>
          <p:nvPr>
            <p:ph type="pic" sz="quarter" idx="13"/>
          </p:nvPr>
        </p:nvSpPr>
        <p:spPr>
          <a:xfrm>
            <a:off x="7375782" y="683419"/>
            <a:ext cx="2429762" cy="249396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ln>
            <a:headEnd type="none"/>
            <a:tailEnd type="none"/>
          </a:ln>
        </p:spPr>
        <p:txBody>
          <a:bodyPr anchor="b" wrap="square"/>
          <a:lstStyle>
            <a:lvl1pPr algn="l">
              <a:defRPr sz="40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l">
              <a:buNone/>
              <a:defRPr sz="20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>
            <a:lvl1pPr/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>
              <a:defRPr sz="2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400" dirty="0"/>
            </a:lvl1pPr>
            <a:lvl2pPr marL="457063" indent="0">
              <a:buNone/>
              <a:defRPr sz="1400" dirty="0"/>
            </a:lvl2pPr>
            <a:lvl3pPr marL="914126" indent="0">
              <a:buNone/>
              <a:defRPr sz="1200" dirty="0"/>
            </a:lvl3pPr>
            <a:lvl4pPr marL="1371189" indent="0">
              <a:buNone/>
              <a:defRPr sz="1000" dirty="0"/>
            </a:lvl4pPr>
            <a:lvl5pPr marL="1828251" indent="0">
              <a:buNone/>
              <a:defRPr sz="1000" dirty="0"/>
            </a:lvl5pPr>
            <a:lvl6pPr marL="2285314" indent="0">
              <a:buNone/>
              <a:defRPr sz="1000" dirty="0"/>
            </a:lvl6pPr>
            <a:lvl7pPr marL="2742377" indent="0">
              <a:buNone/>
              <a:defRPr sz="1000" dirty="0"/>
            </a:lvl7pPr>
            <a:lvl8pPr marL="3199440" indent="0">
              <a:buNone/>
              <a:defRPr sz="1000" dirty="0"/>
            </a:lvl8pPr>
            <a:lvl9pPr marL="3656503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2400" b="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ctr">
              <a:buNone/>
              <a:defRPr sz="1600" dirty="0"/>
            </a:lvl1pPr>
            <a:lvl2pPr marL="457200" indent="0">
              <a:buNone/>
              <a:defRPr sz="1600" dirty="0"/>
            </a:lvl2pPr>
            <a:lvl3pPr marL="914400" indent="0">
              <a:buNone/>
              <a:defRPr sz="1600" dirty="0"/>
            </a:lvl3pPr>
            <a:lvl4pPr marL="1371600" indent="0">
              <a:buNone/>
              <a:defRPr sz="1600" dirty="0"/>
            </a:lvl4pPr>
            <a:lvl5pPr marL="1828800" indent="0">
              <a:buNone/>
              <a:defRPr sz="1600" dirty="0"/>
            </a:lvl5pPr>
            <a:lvl6pPr marL="2286000" indent="0">
              <a:buNone/>
              <a:defRPr sz="1600" dirty="0"/>
            </a:lvl6pPr>
            <a:lvl7pPr marL="2743200" indent="0">
              <a:buNone/>
              <a:defRPr sz="1600" dirty="0"/>
            </a:lvl7pPr>
            <a:lvl8pPr marL="3200400" indent="0">
              <a:buNone/>
              <a:defRPr sz="1600" dirty="0"/>
            </a:lvl8pPr>
            <a:lvl9pPr marL="3657600" indent="0">
              <a:buNone/>
              <a:defRPr sz="1600" dirty="0"/>
            </a:lvl9pPr>
          </a:lstStyle>
          <a:p>
            <a:pPr/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200" dirty="0"/>
            </a:lvl1pPr>
            <a:lvl2pPr marL="457200" indent="0">
              <a:buNone/>
              <a:defRPr sz="1200" dirty="0"/>
            </a:lvl2pPr>
            <a:lvl3pPr marL="914400" indent="0">
              <a:buNone/>
              <a:defRPr sz="1000" dirty="0"/>
            </a:lvl3pPr>
            <a:lvl4pPr marL="1371600" indent="0">
              <a:buNone/>
              <a:defRPr sz="900" dirty="0"/>
            </a:lvl4pPr>
            <a:lvl5pPr marL="1828800" indent="0">
              <a:buNone/>
              <a:defRPr sz="900" dirty="0"/>
            </a:lvl5pPr>
            <a:lvl6pPr marL="2286000" indent="0">
              <a:buNone/>
              <a:defRPr sz="900" dirty="0"/>
            </a:lvl6pPr>
            <a:lvl7pPr marL="2743200" indent="0">
              <a:buNone/>
              <a:defRPr sz="900" dirty="0"/>
            </a:lvl7pPr>
            <a:lvl8pPr marL="3200400" indent="0">
              <a:buNone/>
              <a:defRPr sz="900" dirty="0"/>
            </a:lvl8pPr>
            <a:lvl9pPr marL="3657600" indent="0">
              <a:buNone/>
              <a:defRPr sz="9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  <a:ln>
            <a:headEnd type="none"/>
            <a:tailEnd type="none"/>
          </a:ln>
        </p:spPr>
        <p:txBody>
          <a:bodyPr anchor="ctr" wrap="square">
            <a:noAutofit/>
          </a:bodyPr>
          <a:lstStyle>
            <a:lvl1pPr marL="0" indent="0">
              <a:buFontTx/>
              <a:buNone/>
              <a:defRPr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  <a:ln>
            <a:headEnd type="none"/>
            <a:tailEnd type="none"/>
          </a:ln>
        </p:spPr>
        <p:txBody>
          <a:bodyPr anchor="ctr"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3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4" name="Isosceles Triangle 23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5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Isosceles Triangle 27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Isosceles Triangle 28"/>
            <p:cNvSpPr>
              <a:spLocks/>
            </p:cNvSpPr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t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accent1"/>
                </a:solidFill>
              </a:defRPr>
            </a:lvl1pPr>
          </a:lstStyle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rtl="0" algn="l" defTabSz="457200">
        <a:spcBef>
          <a:spcPct val="0"/>
        </a:spcBef>
        <a:buNone/>
        <a:defRPr sz="3600" kern="1200" dirty="0">
          <a:solidFill>
            <a:schemeClr val="accent1"/>
          </a:solidFill>
          <a:latin typeface="+mj-lt"/>
          <a:ea typeface="+mj-ea"/>
          <a:cs typeface="+mj-cs"/>
        </a:defRPr>
      </a:lvl1pPr>
      <a:lvl2pPr defTabSz="457200">
        <a:defRPr dirty="0">
          <a:solidFill>
            <a:schemeClr val="tx2"/>
          </a:solidFill>
        </a:defRPr>
      </a:lvl2pPr>
      <a:lvl3pPr defTabSz="457200">
        <a:defRPr dirty="0">
          <a:solidFill>
            <a:schemeClr val="tx2"/>
          </a:solidFill>
        </a:defRPr>
      </a:lvl3pPr>
      <a:lvl4pPr defTabSz="457200">
        <a:defRPr dirty="0">
          <a:solidFill>
            <a:schemeClr val="tx2"/>
          </a:solidFill>
        </a:defRPr>
      </a:lvl4pPr>
      <a:lvl5pPr defTabSz="457200">
        <a:defRPr dirty="0">
          <a:solidFill>
            <a:schemeClr val="tx2"/>
          </a:solidFill>
        </a:defRPr>
      </a:lvl5pPr>
      <a:lvl6pPr defTabSz="457200">
        <a:defRPr dirty="0">
          <a:solidFill>
            <a:schemeClr val="tx2"/>
          </a:solidFill>
        </a:defRPr>
      </a:lvl6pPr>
      <a:lvl7pPr defTabSz="457200">
        <a:defRPr dirty="0">
          <a:solidFill>
            <a:schemeClr val="tx2"/>
          </a:solidFill>
        </a:defRPr>
      </a:lvl7pPr>
      <a:lvl8pPr defTabSz="457200">
        <a:defRPr dirty="0">
          <a:solidFill>
            <a:schemeClr val="tx2"/>
          </a:solidFill>
        </a:defRPr>
      </a:lvl8pPr>
      <a:lvl9pPr defTabSz="457200">
        <a:defRPr dirty="0">
          <a:solidFill>
            <a:schemeClr val="tx2"/>
          </a:solidFill>
        </a:defRPr>
      </a:lvl9pPr>
    </p:titleStyle>
    <p:bodyStyle>
      <a:lvl1pPr marL="342900" indent="-3429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 defTabSz="457200">
        <a:defRPr lang="en-US" dirty="0"/>
      </a:defPPr>
      <a:lvl1pPr marL="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bmp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622214"/>
            <a:ext cx="7766936" cy="1646302"/>
          </a:xfrm>
          <a:ln>
            <a:headEnd type="none"/>
            <a:tailEnd type="none"/>
          </a:ln>
        </p:spPr>
        <p:txBody>
          <a:bodyPr wrap="square"/>
          <a:lstStyle/>
          <a:p>
            <a:pPr algn="l" defTabSz="457200"/>
            <a:r>
              <a:rPr lang="en-US" dirty="0">
                <a:latin typeface="Calibri"/>
                <a:ea typeface="Calibri"/>
                <a:cs typeface="Calibri"/>
              </a:rPr>
              <a:t>Enterprise Onboarding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3815080"/>
            <a:ext cx="7766936" cy="1518920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Prepared for </a:t>
            </a:r>
            <a:r>
              <a:rPr lang="en-US" dirty="0">
                <a:latin typeface="Calibri"/>
                <a:ea typeface="Calibri"/>
                <a:cs typeface="Calibri"/>
              </a:rPr>
              <a:t>Janet Leverling</a:t>
            </a:r>
          </a:p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This proposal is tailored for </a:t>
            </a:r>
            <a:r>
              <a:rPr lang="en-US" dirty="0">
                <a:latin typeface="Calibri"/>
                <a:ea typeface="Calibri"/>
                <a:cs typeface="Calibri"/>
              </a:rPr>
              <a:t>Janet Leverling</a:t>
            </a:r>
            <a:r>
              <a:rPr lang="en-US" dirty="0">
                <a:latin typeface="Calibri"/>
                <a:ea typeface="Calibri"/>
                <a:cs typeface="Calibri"/>
              </a:rPr>
              <a:t> and outlines a structured, scalable approach to successfully onboard teams, drive platform adoption, and accelerate time‑to‑value across the organization.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Pricing Overview​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Proposed Commercials for </a:t>
            </a:r>
            <a:r>
              <a:rPr lang="en-US" sz="2400" dirty="0">
                <a:latin typeface="Calibri"/>
                <a:ea typeface="Calibri"/>
                <a:cs typeface="Calibri"/>
              </a:rPr>
              <a:t>Janet Leverling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Total Investment: </a:t>
            </a:r>
            <a:r>
              <a:rPr lang="en-US" sz="2400" dirty="0">
                <a:latin typeface="Calibri"/>
                <a:ea typeface="Calibri"/>
                <a:cs typeface="Calibri"/>
              </a:rPr>
              <a:t>$55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Pricing Scope: Comprehensive enterprise onboarding and enablement services</a:t>
            </a:r>
          </a:p>
          <a:p>
            <a:pPr marL="0" indent="0" fontAlgn="base" defTabSz="457200">
              <a:buNone/>
            </a:pPr>
            <a:r>
              <a:rPr lang="en-US" sz="24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Investment Summary: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The proposed investment of </a:t>
            </a:r>
            <a:r>
              <a:rPr lang="en-US" sz="2400" dirty="0">
                <a:latin typeface="Calibri"/>
                <a:ea typeface="Calibri"/>
                <a:cs typeface="Calibri"/>
              </a:rPr>
              <a:t>$55</a:t>
            </a:r>
            <a:r>
              <a:rPr lang="en-US" sz="2400" dirty="0">
                <a:latin typeface="Calibri"/>
                <a:ea typeface="Calibri"/>
                <a:cs typeface="Calibri"/>
              </a:rPr>
              <a:t> delivers enterprise‑grade onboarding, designed to ensure rapid adoption, operational efficiency, and long‑term scalability—maximizing return on investment from day one.</a:t>
            </a: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defTabSz="457200"/>
            <a:endParaRPr lang="en-US" sz="2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7396102" y="378619"/>
            <a:ext cx="2429762" cy="2493962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Value Summary​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4029"/>
            <a:ext cx="8596668" cy="3880773"/>
          </a:xfrm>
          <a:ln>
            <a:headEnd type="none"/>
            <a:tailEnd type="none"/>
          </a:ln>
        </p:spPr>
        <p:txBody>
          <a:bodyPr wrap="square">
            <a:normAutofit lnSpcReduction="10000"/>
          </a:bodyPr>
          <a:lstStyle/>
          <a:p>
            <a:pPr marL="0" indent="0" fontAlgn="base" defTabSz="457200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Why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Janet Leverling</a:t>
            </a:r>
            <a:r>
              <a:rPr lang="en-US" sz="2400" b="1" dirty="0">
                <a:latin typeface="Calibri"/>
                <a:ea typeface="Calibri"/>
                <a:cs typeface="Calibri"/>
              </a:rPr>
              <a:t> chooses us:​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Accelerated Time‑to‑Value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Structured onboarding framework ensures faster go‑live and immediate productivity.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Higher Adoption &amp; Engagement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Guided enablement programs drive consistent usage across teams.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Built with security, scalability, and dedicated support to meet enterprise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/>
        </a:gradFill>
      </a:fillStyleLst>
      <a:lnStyleLst>
        <a:ln w="12700" cap="rnd">
          <a:solidFill>
            <a:schemeClr val="phClr"/>
          </a:solidFill>
          <a:prstDash val="solid"/>
          <a:headEnd type="none"/>
          <a:tailEnd type="none"/>
        </a:ln>
        <a:ln w="19050" cap="rnd">
          <a:solidFill>
            <a:schemeClr val="phClr"/>
          </a:solidFill>
          <a:prstDash val="solid"/>
          <a:headEnd type="none"/>
          <a:tailEnd type="none"/>
        </a:ln>
        <a:ln w="25400" cap="rnd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/>
        </a:effectStyle>
        <a:effectStyle>
          <a:effectLst>
            <a:outerShdw blurRad="38100" dist="254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algn="b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Company/>
  <Lines>0</Lines>
  <MMClips>0</MMClips>
  <Notes>0</Notes>
  <Pages>0</Pages>
  <Paragraphs>17</Paragraphs>
  <PresentationFormat>Widescreen</PresentationFormat>
  <Template>Facet</Template>
  <HiddenSlides>0</HiddenSlides>
  <LinksUpToDate>false</LinksUpToDate>
  <ScaleCrop>false</ScaleCrop>
  <Slides>3</Slides>
  <TotalTime>52</TotalTime>
  <Words>162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Dharanitharan Ayyasamy</dc:creator>
  <cp:lastModifiedBy>Sivakumar Alagusundharam</cp:lastModifiedBy>
  <dcterms:created xsi:type="dcterms:W3CDTF">2026-04-30T10:21:22Z</dcterms:created>
  <dcterms:modified xsi:type="dcterms:W3CDTF">2026-05-05T17:02:26Z</dcterms:modified>
  <cp:revision>10</cp:revision>
  <dc:title/>
</cp:coreProperties>
</file>